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4937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ENTERPRISE AI CYBERSECURITY &amp; MLOPS PLATFORM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Autonomous Phishing Email Detection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D700"/>
                </a:solidFill>
              </a:defRPr>
            </a:pPr>
            <a:r>
              <a:t>Core Machine Learning Architecture: SUPERVISED LEARNING with SUPPORT VECTOR MACHINE (SVM)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 multi-layered cyber threat defense combining Calibrated Linear Support Vector Classifier (LinearSVC), deep masked link unmasking, zero-width anti-evasion heuristics, and real-time MLOps retraining.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38912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44805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99.34% ACCURACY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Test Set Generalization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31336" y="438912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8496" y="44805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SUPERVISED SVM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Calibrated LinearSVC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65392" y="438912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44805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56,667 EMAILS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Harmonized Master Corpus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9448" y="438912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44805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0.9996 ROC-AUC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Near-Perfect Discrimination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EXECUTIVE CONTEXT &amp;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Phishing Epidemic &amp; Failure of Legacy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🚨 Critical Cyber Security Reality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91% of Cyberattacks Originate via Email: 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   Phishing remains the primary entry vector for enterprise ransomware, credential harvesting, and Business Email Compromise (BEC).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Evasion via Obfuscation: 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   Attackers inject invisible zero-width unicode spaces (\u200B), Punycode homographs, and hidden HTML styles (display:none) that blind static filters.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Deceptive Masked Links &amp; Buttons: 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   Innocuous visible text like 'Verify Microsoft Account' secretly redirects to weaponized external phishing payloads.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Multi-Modal Document Weaponization: 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   Threats are no longer just plaintext; they arrive wrapped inside PDFs, Word docs, Excel sheets, and embedded screenshot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🛡️ Phishing Sentinel Solution Architecture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✔ Supervised Machine Learning Paradigm: 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Trained on 56,667 verified, ground-truth labeled email communications for rigorous statistical pattern recognition.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✔ Calibrated Linear SVM Engine: 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Support Vector Machine operating in 30,000-dimensional TF-IDF space, delivering optimal hyperplane separation with sub-millisecond inference.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✔ Dual-Layer Defense Synergy: 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Combines high-accuracy statistical ML with deterministic cybersecurity heuristics (Punycode, SPF/DKIM, double extensions).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✔ Live Enterprise MLOps Hub: 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Provides continuous feedback loops, dynamic dataset ingestion, one-click automated retraining, and instant model rollback.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MACHINE LEARNING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Supervised Learning: Ground Truth Classification Paradigm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PRIMARY ML PARADIGM: SUPERVISED BINARY CLASSIFICATION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model learns a predictive mapping function f(x) -&gt; y using 56,667 ground-truth labeled email samples, where label y in {0: Legitimate / Safe, 1: Phishing Threat}.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429000" cy="3886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04872"/>
            <a:ext cx="3099816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A855F7"/>
                </a:solidFill>
              </a:defRPr>
            </a:pPr>
            <a:r>
              <a:t>1. Ground-Truth Data Curation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Labeled Dataset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Every single training record is explicitly paired with verified target labels: y = 0 (Safe) or y = 1 (Phishing).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Harmonized Schemas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Unified diverse threat sources (CEAS_08 &amp; Phishing_Email corpus) into standard (text, label) supervised pairs.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No Hallucination Risk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Unlike generative models, supervised discriminative classifiers make decisions strictly anchored to empirical ground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3886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404872"/>
            <a:ext cx="3099816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2. Supervised Training Pipeline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Stratified 80/20 Split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Data split into 45,333 training samples and 11,334 holdout test samples, preserving exact class balance.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Convex Loss Minimization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Supervised optimization of Hinge Loss with L2 regularization ensures guaranteed global convergence without local minima traps.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Cross-Validation Calibration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3-Fold cross-validation internally calibrates decision thresholds for statistically sound probability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240280"/>
            <a:ext cx="3429000" cy="3886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2404872"/>
            <a:ext cx="3099816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3. Why Supervised Over Unsupervised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Adversarial Nuances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Phishing text mimics legitimate business communications. Unsupervised clustering fails to separate benign urgency from malicious urgency.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Precision Guarantee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Supervised feedback minimizes false positive rates (critical for corporate inboxes where business email loss is unacceptable).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Objective Evaluation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Enables exact calculation of Precision (99.47%), Recall (99.33%), and ROC-AUC (0.9996) against known ground truth.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CLASSIFIER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Support Vector Machine (SVM): Calibrated LinearSVC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4800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⚡ Mathematical Formulation &amp; Architecture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• Algorithm: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Linear Support Vector Classifier (LinearSVC via scikit-learn/LIBLINEAR)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• Optimization Objective: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Minimizes: 0.5 * ||w||² + C * Σ max(0, 1 - y_i(wᵀx_i + b))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• Maximal Margin Principle: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Constructs an optimal decision hyperplane wᵀx + b = 0 maximizing the geometric margin 2 / ||w|| between Safe and Phishing clusters.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• Hyperparameter C = 1.0: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Balances margin maximization against training error tolerance (soft margin with slack variables ξ_i).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• Dual=False (Primal Solver):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Since N (45,333 samples) &gt; D (30,000 features), solving in the primal coordinate descent space achieves ultra-fast 50-second training.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• Why Linear SVM Excels in NLP: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High-dimensional text spaces (30,000 TF-IDF features) are linearly separable. SVM prevents overfitting even with large sparse vocabularies.</a:t>
            </a:r>
          </a:p>
        </p:txBody>
      </p:sp>
      <p:pic>
        <p:nvPicPr>
          <p:cNvPr id="6" name="Picture 5" descr="chart_svm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242255" cy="34074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CORPUS ENGINEERING &amp; HARMONIZATION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Master Dataset: 56,667 Balanced Threat Records</a:t>
            </a:r>
          </a:p>
        </p:txBody>
      </p:sp>
      <p:pic>
        <p:nvPicPr>
          <p:cNvPr id="4" name="Picture 3" descr="chart_datas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272125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371600"/>
            <a:ext cx="487649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50876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4B8A6"/>
                </a:solidFill>
              </a:defRPr>
            </a:pPr>
            <a:r>
              <a:t>📊 Dataset Harmonization Architecture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Multi-Source Ingestion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Harmonized CEAS_08 (subject, body, label) and Phishing_Email corpus into unified [text, label] format.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Rigorous Deduplication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Merged 57,804 raw records down to 56,667 unique email records, completely removing duplicate spam campaigns.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Near-Perfect Class Balance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28,377 Phishing (50.08%) vs. 28,290 Safe (49.92%). Eliminates majority-class bias without artificial SMOTE synthesis.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Zero Null Values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Automated validation filters ensure 0 null entries across all text and label columns.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Stratified Supervised Split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45,333 training samples (80%) and 11,334 holdout test samples (20%), ensuring identical class ratios in both splits.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CYBERSECURITY NATURAL LANGUAGE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Specialized Anti-Evasion Text Preprocessing &amp; TF-IDF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F4444"/>
                </a:solidFill>
              </a:defRPr>
            </a:pPr>
            <a:r>
              <a:t>1. Anti-Evasion Sanitization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Zero-Width Neutralization: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Strips invisible \u200B, \u200C, \uFEFF characters attackers embed inside keywords like 'P\u200BayP\u200Bal'.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HTML Entity Decoding: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Decodes hidden HTML tags (display:none, font-size:0) and unescapes &amp;amp;, &amp;lt;, &amp;gt; obfuscation.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2. Cybersecurity Entity Tokenization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URL Normalization: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Substitutes URLs with URLTOKEN, while appending true unmasked link destinations.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Email &amp; Currency Tokens: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Replaces emails with EMAILTOKEN, monetary figures with MONEYTOKEN, and raw IPs with IPTOKEN.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3. TF-IDF N-Gram Vectorization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N-Gram Range (1, 2):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Captures unigrams ('urgent', 'verify') and crucial bigrams ('account suspended', 'click here').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Sublinear TF Scaling: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Replaces raw TF with 1 + log(tf), dampening the influence of repetitive spam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4. High-Dimensional Sparse Matrix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Vocabulary Cap: 30,000: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Retains the top 30,000 most informative lexical tokens, pruning noise (min_df=2).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Unicode Accent Stripping: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Harmonizes international diacritics and character variants to ensure canonical representations.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EMPIRICAL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State-of-the-Art Test Results &amp; Comparative Benchmarks</a:t>
            </a:r>
          </a:p>
        </p:txBody>
      </p:sp>
      <p:pic>
        <p:nvPicPr>
          <p:cNvPr id="4" name="Picture 3" descr="chart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33812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66560" y="1371600"/>
            <a:ext cx="469361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50876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🏆 Calibrated Linear SVM Metrics</a:t>
            </a:r>
          </a:p>
          <a:p>
            <a:pPr>
              <a:spcAft>
                <a:spcPts val="100"/>
              </a:spcAft>
              <a:defRPr b="1" sz="1200">
                <a:solidFill>
                  <a:srgbClr val="38BDF8"/>
                </a:solidFill>
              </a:defRPr>
            </a:pPr>
            <a:r>
              <a:t>★ Accuracy: 99.34%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11,259 correct predictions out of 11,334 unseen test emails.</a:t>
            </a:r>
          </a:p>
          <a:p>
            <a:pPr>
              <a:spcAft>
                <a:spcPts val="100"/>
              </a:spcAft>
              <a:defRPr b="1" sz="1200">
                <a:solidFill>
                  <a:srgbClr val="FFD700"/>
                </a:solidFill>
              </a:defRPr>
            </a:pPr>
            <a:r>
              <a:t>★ ROC-AUC: 0.9996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Near-perfect discrimination across all operating thresholds.</a:t>
            </a:r>
          </a:p>
          <a:p>
            <a:pPr>
              <a:spcAft>
                <a:spcPts val="100"/>
              </a:spcAft>
              <a:defRPr b="1" sz="1200">
                <a:solidFill>
                  <a:srgbClr val="14B8A6"/>
                </a:solidFill>
              </a:defRPr>
            </a:pPr>
            <a:r>
              <a:t>★ Precision: 99.47%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Only 30-37 false alarms out of 5,668 predicted attacks.</a:t>
            </a:r>
          </a:p>
          <a:p>
            <a:pPr>
              <a:spcAft>
                <a:spcPts val="100"/>
              </a:spcAft>
              <a:defRPr b="1" sz="1200">
                <a:solidFill>
                  <a:srgbClr val="10B981"/>
                </a:solidFill>
              </a:defRPr>
            </a:pPr>
            <a:r>
              <a:t>★ Recall: 99.15% - 99.33%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Successfully neutralizes over 99.3% of all phishing campaigns.</a:t>
            </a:r>
          </a:p>
          <a:p>
            <a:pPr>
              <a:spcAft>
                <a:spcPts val="100"/>
              </a:spcAft>
              <a:defRPr b="1" sz="1200">
                <a:solidFill>
                  <a:srgbClr val="A855F7"/>
                </a:solidFill>
              </a:defRPr>
            </a:pPr>
            <a:r>
              <a:t>★ F1-Score: 99.34%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Harmonic mean verifies balanced performance on both classes.</a:t>
            </a:r>
          </a:p>
          <a:p>
            <a:pPr>
              <a:spcAft>
                <a:spcPts val="100"/>
              </a:spcAft>
              <a:defRPr b="1" sz="1200">
                <a:solidFill>
                  <a:srgbClr val="F59E0B"/>
                </a:solidFill>
              </a:defRPr>
            </a:pPr>
            <a:r>
              <a:t>★ Training Time: ~50 sec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   Blazing fast training on 45,333 samples without heavy GPU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RIGOROUS ERROR DECONSTRUCTION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Confusion Matrix Analysis on 11,334 Holdout Emails</a:t>
            </a:r>
          </a:p>
        </p:txBody>
      </p:sp>
      <p:pic>
        <p:nvPicPr>
          <p:cNvPr id="4" name="Picture 3" descr="char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94960" cy="39563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371600"/>
            <a:ext cx="515081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🎯 Operational Cyber Security Impact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True Negatives: 5,621 (99.35%)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Legitimate corporate communications correctly routed to inboxes without disruption to business operations.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True Positives: 5,638 (99.33%)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High-severity phishing attacks accurately intercepted before employee interaction occurs.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Ultra-Low False Positives: 37 (0.65%)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Critical for enterprise trust: legitimate partner and client emails are almost never quarantined erroneously.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Ultra-Low False Negatives: 38 (0.67%)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Less than 1 attack in 148 breaches the ML perimeter; remaining threats are intercepted by Layer 2 cyber heuristics.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Total Evaluation Volume: 11,334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Statistically rigorous holdout sample size confirms real-world robustness against dataset drift.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MODEL TRANSPARENCY &amp; EXPLAINABLE AI (XAI)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Exact Linear SVM Token Attribution (w_i · x_i)</a:t>
            </a:r>
          </a:p>
        </p:txBody>
      </p:sp>
      <p:pic>
        <p:nvPicPr>
          <p:cNvPr id="4" name="Picture 3" descr="chart_featur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33812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66560" y="1371600"/>
            <a:ext cx="469361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50876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🔍 Mathematical Attribution Engine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No Black-Box Obscurity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Unlike Deep Neural Networks or LLMs, Linear SVM features exact mathematical weights w_i for every word in the vocabulary.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Token Contribution: w_i * x_i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The product of weight w_i and TF-IDF value x_i reveals the precise vector push toward Legitimate vs. Phishing.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Interactive Word Heatmap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Web dashboard renders red badges for threat tokens ('urgent', 'verify', 'password') and green badges for safe conversational context.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Top 5 Feature Influencers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Every scan dynamically surfaces the top 5 words responsible for swaying the verdict, aiding SOC analysts in rapid triage.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Auditable Decisions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Provides compliance and forensic auditability required under SOC2, ISO 27001, and enterprise security policies.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DEFENSE-IN-DEPTH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Dual-Layer Engine: Supervised SVM + Threat Heuristics</a:t>
            </a:r>
          </a:p>
        </p:txBody>
      </p:sp>
      <p:pic>
        <p:nvPicPr>
          <p:cNvPr id="4" name="Picture 3" descr="chart_threat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31211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66560" y="1371600"/>
            <a:ext cx="469361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50876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🛡️ Specialized Cyber Inspection Modules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Sender Identity &amp; Header Spoofing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Detects Display Name brand impersonation, Reply-To mismatches, and SPF/DKIM/DMARC authentication failures.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IDN Homograph &amp; Punycode (xn--)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Uncovers deceptive Cyrillic/Greek lookalikes (e.g. 'goog1e.com' or 'apple.com' written in Cyrillic).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Double Extension Detection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Intercepts disguised executables such as 'Payroll_Invoice.pdf.exe' or 'Receipt.docx.vbs'.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Macro &amp; Script File Screening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Flags weaponized attachments (.docm, .xlsm, .hta, .ps1, .iso) and password-locked archives.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URL Shorteners &amp; Raw IPs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Neutralizes link obfuscators (bit.ly, tinyurl) and numeric IP hostnames designed to bypass web reputation filters.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UNIVERSAL INGESTION &amp; LINK DE-MASKING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Multi-Modal Document Parsing &amp; Hidden Target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36192"/>
            <a:ext cx="309981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A855F7"/>
                </a:solidFill>
              </a:defRPr>
            </a:pPr>
            <a:r>
              <a:t>Universal File Ingestion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Email Formats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Native RFC 822 parser for .eml, Microsoft Outlook .msg (OLE storage), and UNIX .mbox archives.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PDF Document Extraction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Extracts structured text, embedded interactive /URI button links, and PDF form payloads.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Office Suites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Deep inspection of Microsoft Word (.docx, .doc), Excel (.xlsx), PowerPoint (.pptx), and Rich Text (.rtf).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OCR Image Engine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Optical Character Recognition extracts text from screenshots (.png, .jpg, .webp).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71600"/>
            <a:ext cx="342900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536192"/>
            <a:ext cx="309981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Deep Link &amp; Button Unmasking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HTML &amp; Button Deconstruction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Disassembles &lt;a&gt; tags, Markdown [text](url), and JavaScript onclick redirection buttons.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Uncovering Hidden Targets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Unpacks deceptive visible texts such as 'Click Here', 'Update Billing', or 'Verify Payroll'.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Payload Ingestion into SVM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Injects the resolved target URL into the NLP tokenizer so the Supervised SVM evaluates the true destination payload.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Anchor Text Discrepancies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Flags when visible text displays a legitimate domain while the hyperlink leads elsewhere.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371600"/>
            <a:ext cx="342900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536192"/>
            <a:ext cx="309981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EF4444"/>
                </a:solidFill>
              </a:defRPr>
            </a:pPr>
            <a:r>
              <a:t>Domain Mismatch Spoofing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Deceptive Visual Anchors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Identifies links where text claims to be 'https://paypal.com' while secretly navigating to 'http://paypa1-update.xyz'.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High-Severity Threat Alert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Triggers instantaneous threat score escalation for deceptive domain redirection.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Brand Typosquatting Check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Cross-references domains against the top 20 most targeted global enterprise brands.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• Entropy &amp; TLD Risk Scoring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Flags random high-entropy strings and high-risk domain registries (.xyz, .top, .buzz).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DECISION THEORY &amp; THRESHOLD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CalibratedClassifierCV &amp; Tunable Operational Presets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🎯 Platt Calibration (CalibratedClassifierCV) Integration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</a:defRPr>
            </a:pPr>
            <a:r>
              <a:t>• Challenge: Standard Linear Support Vector Machines output signed geometric distances (wᵀx + b) from the separating hyperplane, not true probabilities.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</a:defRPr>
            </a:pPr>
            <a:r>
              <a:t>• Solution: Wrapped LinearSVC inside scikit-learn's CalibratedClassifierCV using 3-fold cross-validation with Sigmoid Platt Scaling: P(y=1|x) = 1 / (1 + exp(A·f(x) + B)).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</a:defRPr>
            </a:pPr>
            <a:r>
              <a:t>• Result: Produces mathematically well-calibrated confidence probabilities P ∈ [0.0, 1.0], enabling dynamic sensitivity adjustment.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342900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648456"/>
            <a:ext cx="313639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EF4444"/>
                </a:solidFill>
              </a:defRPr>
            </a:pPr>
            <a:r>
              <a:t>Strict / Zero-Trust Preset (0.35)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Threshold: 0.35 Phishing Probability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Any email with ≥35% phishing probability is aggressively quarantined.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Target Inboxes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Designed for VIPs, Executive C-Suite, Treasury, and Payroll departments.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Operational Posture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Maximum paranoia; zero tolerance for false negatives / missed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3520440"/>
            <a:ext cx="342900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648456"/>
            <a:ext cx="313639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38BDF8"/>
                </a:solidFill>
              </a:defRPr>
            </a:pPr>
            <a:r>
              <a:t>Balanced Standard Preset (0.50)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Threshold: 0.50 Standard Bayesian Prior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Optimal operating point matching maximum F1-Score (99.34%).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Target Inboxes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General corporate employees and daily communication channels.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Operational Posture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Balanced tradeoff between threat detection and seamless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3520440"/>
            <a:ext cx="342900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3648456"/>
            <a:ext cx="313639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0B981"/>
                </a:solidFill>
              </a:defRPr>
            </a:pPr>
            <a:r>
              <a:t>Relaxed High-Certainty Preset (0.70)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Threshold: 0.70 High-Confidence Boundary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Only intercepts emails with ≥70% undeniable phishing signals.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Target Inboxes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Noisy environments, high-volume marketing channels, or non-critical feeds.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• Operational Posture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Minimizes false alarms to absolute zero; flags only overt attacks.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CONTINUOUS LEARNING &amp; MODEL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MLOps Hub: Ingestion, Retraining &amp; Rollback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1. Live Telemetry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Corpus Telemetry: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Monitors 56,667+ records in real time with live class balance breakdown.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Active Model State: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Tracks active model version, test accuracy (99.34%), and ROC-AUC.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Performance History: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Persists model_metrics_history.json across retraining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</a:defRPr>
            </a:pPr>
            <a:r>
              <a:t>2. Data Ingestion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Drag-and-Drop Ingestion: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Upload new CSV or JSON datasets directly through the web UI.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Automated Schema Mapping: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Auto-maps varied columns (subject, body, label, Email Type) into canonical schema.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Intelligent Deduplication: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Filters out duplicates against existing corpus before merging.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3. 1-Click Retraining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In-Browser Execution: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Triggers asynchronous model retraining via background worker threads.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Live Execution Logs: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Streams training progress and epoch timing directly into the web UI.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Instant Metrics Diff: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Displays Before vs. After accuracy and confusion matrix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150876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4. Safe Rollback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Automatic Pre-Flight Backup: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Creates atomic snapshot phishing_detector_model_backup.joblib prior to retraining.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One-Click Instant Revert: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Instantly restores previous model state if new data degrades performance.</a:t>
            </a:r>
          </a:p>
          <a:p>
            <a:pPr>
              <a:spcAft>
                <a:spcPts val="300"/>
              </a:spcAft>
              <a:defRPr b="1" sz="1100">
                <a:solidFill>
                  <a:srgbClr val="F8FAFC"/>
                </a:solidFill>
              </a:defRPr>
            </a:pPr>
            <a:r>
              <a:t>• Zero Downtime: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  Hot-swaps model pipelines in memory without restarting FastAPI.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SOFTWARE ARCHITECTURE &amp; PRODUCTION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Production-Ready FastAPI Backend &amp; Modern SPA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🏗️ Production Software Architecture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FastAPI Async Web Service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High-throughput asynchronous ASGI server with automatic OpenAPI Swagger documentation at /docs.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Pydantic Schema Validation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Strict request/response type validation and defensive boundary checking for zero unhandled exceptions.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Modular Service Decomposition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Clean separation across server.py, phishing_svm_classifier.py, security_heuristics.py, document_parsers.py, and dataset_manager.py.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Command-Line Interface (CLI)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predict.py utility supporting direct CLI flags (--text) and interactive terminal REPL mode (--interactive).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Single-Page Application (SPA)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Vanilla JS and CSS3 cybersecurity dark dashboard; dual-tab layout (Threat Scanner + MLOps Hub).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36192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🌐 Enterprise REST API Endpoints</a:t>
            </a:r>
          </a:p>
          <a:p>
            <a:pPr>
              <a:spcAft>
                <a:spcPts val="200"/>
              </a:spcAft>
              <a:defRPr b="1" sz="1100">
                <a:solidFill>
                  <a:srgbClr val="FFD700"/>
                </a:solidFill>
              </a:defRPr>
            </a:pPr>
            <a:r>
              <a:t>• POST /api/scan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Primary threat inspection endpoint. Accepts raw email text or multi-modal file uploads; returns SVM probability, heuristic alerts, and verdict.</a:t>
            </a:r>
          </a:p>
          <a:p>
            <a:pPr>
              <a:spcAft>
                <a:spcPts val="200"/>
              </a:spcAft>
              <a:defRPr b="1" sz="1100">
                <a:solidFill>
                  <a:srgbClr val="FFD700"/>
                </a:solidFill>
              </a:defRPr>
            </a:pPr>
            <a:r>
              <a:t>• POST /api/explain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Explainable AI endpoint returning exact token attribution weights (w_i · x_i) and UI heatmap formatting.</a:t>
            </a:r>
          </a:p>
          <a:p>
            <a:pPr>
              <a:spcAft>
                <a:spcPts val="200"/>
              </a:spcAft>
              <a:defRPr b="1" sz="1100">
                <a:solidFill>
                  <a:srgbClr val="FFD700"/>
                </a:solidFill>
              </a:defRPr>
            </a:pPr>
            <a:r>
              <a:t>• GET /api/stats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Telemetry endpoint returning live corpus size, class distribution, active model metadata, and accuracy history.</a:t>
            </a:r>
          </a:p>
          <a:p>
            <a:pPr>
              <a:spcAft>
                <a:spcPts val="200"/>
              </a:spcAft>
              <a:defRPr b="1" sz="1100">
                <a:solidFill>
                  <a:srgbClr val="FFD700"/>
                </a:solidFill>
              </a:defRPr>
            </a:pPr>
            <a:r>
              <a:t>• POST /api/retrain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Asynchronously triggers full ML pipeline retraining with live log streaming and metric updates.</a:t>
            </a:r>
          </a:p>
          <a:p>
            <a:pPr>
              <a:spcAft>
                <a:spcPts val="200"/>
              </a:spcAft>
              <a:defRPr b="1" sz="1100">
                <a:solidFill>
                  <a:srgbClr val="FFD700"/>
                </a:solidFill>
              </a:defRPr>
            </a:pPr>
            <a:r>
              <a:t>• POST /api/rollback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Immediately swaps active model with previous backup in memory with zero downtime.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QUALITY ASSURANCE &amp; PLATFORM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14-Point Test Suite: 100% Pass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685800"/>
          </a:xfrm>
          <a:prstGeom prst="roundRect">
            <a:avLst/>
          </a:prstGeom>
          <a:solidFill>
            <a:srgbClr val="10322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TEST EXECUTION: 14 / 14 VERIFICATION TESTS PASSED (0 FAILURES)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Automated test harness (test_sentinel_platform.py) validates end-to-end functionality across all subsystems.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429000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13432"/>
            <a:ext cx="3099816" cy="36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38BDF8"/>
                </a:solidFill>
              </a:defRPr>
            </a:pPr>
            <a:r>
              <a:t>ML Pipeline &amp; Explainability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SVM Model Artifact Integrity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Verifies phishing_detector_model.joblib loads with all TF-IDF and classifier steps.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Supervised Inference Speed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Validates sub-millisecond prediction latency on single and batch inputs.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Platt Calibration Range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Ensures output probabilities strictly conform to [0.0, 1.0].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Linear Weight Extraction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Verifies exact token weights (w_i · x_i) calculate without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148840"/>
            <a:ext cx="3429000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313432"/>
            <a:ext cx="3099816" cy="36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F59E0B"/>
                </a:solidFill>
              </a:defRPr>
            </a:pPr>
            <a:r>
              <a:t>Security Heuristics Suite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Zero-Width Sanitizer Test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Asserts hidden \u200B and HTML font evasion are neutralized.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Punycode Homograph Test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Detects xn-- IDN lookalike characters and flags alerts.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Double Extension Test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Intercepts disguised files (.pdf.exe) with 100% accuracy.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Domain Mismatch Test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Flags links where visible anchor diverges from target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148840"/>
            <a:ext cx="3429000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2313432"/>
            <a:ext cx="3099816" cy="36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A855F7"/>
                </a:solidFill>
              </a:defRPr>
            </a:pPr>
            <a:r>
              <a:t>Parsers &amp; REST API Endpoints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Universal Parser Test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Extracts valid text from .eml, .msg, .pdf, and image files.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Link De-Masking Test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Unpacks hidden targets behind 'Click Here' buttons.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Health &amp; Telemetry APIs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Validates /api/health and /api/stats return accurate telemetry.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✔ Prediction &amp; Rollback API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Validates /api/scan, /api/retrain, and /api/rollback routes.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STRATEGIC IMPACT &amp;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Conclusions: Enterprise Readiness &amp; Future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🎯 Summary of Project Achievements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★ Supervised Learning Superiority: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Trained on 56,667 verified emails, delivering 99.34% test accuracy and 0.9996 ROC-AUC.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★ Why SVM Outperformed: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LinearSVC with Platt Calibration offers optimal maximal-margin separation in high-dimensional text space with zero latency overhead.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★ Sub-Millisecond Inference: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Executes over 100x faster than large language models, processing high-volume corporate email queues in real time.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★ Zero-Trust Defense-in-Depth: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Combines statistical ML with deterministic threat heuristics for airtight protection against novel evasion techniques.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🚀 Future Innovation Roadmap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➔ Federated Edge Deployment: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Distribute model weights across edge mail exchange (MX) gateways without centralizing sensitive emails.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➔ Browser Extension Agent: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Real-time client-side unmasking of webmail links (Gmail, Outlook Web, Yahoo) prior to user clicks.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➔ Live Threat Intelligence Feed: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Integration with real-time abuse databases (URLhaus, PhishTank, VirusTotal) for dynamic blacklisting.</a:t>
            </a:r>
          </a:p>
          <a:p>
            <a:pPr>
              <a:spcAft>
                <a:spcPts val="200"/>
              </a:spcAft>
              <a:defRPr b="1" sz="1150">
                <a:solidFill>
                  <a:srgbClr val="F8FAFC"/>
                </a:solidFill>
              </a:defRPr>
            </a:pPr>
            <a:r>
              <a:t>➔ Graph-Based Domain Telemetry: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   Graph neural network modeling of sender trust networks and domain registration age telemetry.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PHISHING SENTINEL  |  SUPERVISED LEARNING  •  SUPPORT VECTOR MACHINE (SVM)  •  CYBER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825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